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C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73152" cy="4846320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A2"/>
                </a:solidFill>
                <a:latin typeface="Calibri"/>
              </a:defRPr>
            </a:pPr>
            <a:r>
              <a:t>AGRICULTURAL DRONES  •  PRECISION SPRAYING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Electrostatic Spray</a:t>
            </a:r>
            <a:br/>
            <a:r>
              <a:t>Charging for Drones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089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6E5"/>
                </a:solidFill>
                <a:latin typeface="Calibri"/>
              </a:defRPr>
            </a:pPr>
            <a:r>
              <a:t>Solving 40% chemical drift — proven 75% reduction, 3× deposition.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114800"/>
            <a:ext cx="1554480" cy="1005840"/>
          </a:xfrm>
          <a:prstGeom prst="roundRect">
            <a:avLst/>
          </a:prstGeom>
          <a:solidFill>
            <a:srgbClr val="13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1605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091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8D6E5"/>
                </a:solidFill>
                <a:latin typeface="Calibri"/>
              </a:defRPr>
            </a:pPr>
            <a:r>
              <a:t>DRIFT</a:t>
            </a:r>
            <a:br/>
            <a:r>
              <a:t>REDUCTION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114800"/>
            <a:ext cx="1554480" cy="1005840"/>
          </a:xfrm>
          <a:prstGeom prst="roundRect">
            <a:avLst/>
          </a:prstGeom>
          <a:solidFill>
            <a:srgbClr val="13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41605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t>3×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7091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8D6E5"/>
                </a:solidFill>
                <a:latin typeface="Calibri"/>
              </a:defRPr>
            </a:pPr>
            <a:r>
              <a:t>LEAF</a:t>
            </a:r>
            <a:br/>
            <a:r>
              <a:t>DEPOSITION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4114800"/>
            <a:ext cx="1554480" cy="1005840"/>
          </a:xfrm>
          <a:prstGeom prst="roundRect">
            <a:avLst/>
          </a:prstGeom>
          <a:solidFill>
            <a:srgbClr val="13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1605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7091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8D6E5"/>
                </a:solidFill>
                <a:latin typeface="Calibri"/>
              </a:defRPr>
            </a:pPr>
            <a:r>
              <a:t>CHEMICAL</a:t>
            </a:r>
            <a:br/>
            <a:r>
              <a:t>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Proposal  •  September 2025  •  Confidential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640080"/>
            <a:ext cx="3291840" cy="5577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914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B4A2"/>
                </a:solidFill>
                <a:latin typeface="Calibri"/>
              </a:defRPr>
            </a:pPr>
            <a:r>
              <a:t>THE PROBLEM IN ONE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371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C2626"/>
                </a:solidFill>
                <a:latin typeface="Calibri"/>
              </a:defRPr>
            </a:pPr>
            <a:r>
              <a:t>$18,000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chemical wasted per 1,000 ha / season</a:t>
            </a:r>
            <a:br/>
            <a:r>
              <a:t>with conventional drone spraying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35–50% of spray never reaches the target.</a:t>
            </a:r>
            <a:br/>
            <a:r>
              <a:t>It drifts to neighbours, water, air.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566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ON-TARGET DEPOSITION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886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Conventional  35%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4160520"/>
            <a:ext cx="2560320" cy="25603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95360" y="4160520"/>
            <a:ext cx="896111" cy="25603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4480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Electrostatic  78%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0" y="4754880"/>
            <a:ext cx="2560320" cy="25603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95360" y="4754880"/>
            <a:ext cx="1997049" cy="2560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Univ. of Georgia field trials</a:t>
            </a:r>
            <a:br/>
            <a:r>
              <a:t>+ Li et al. 2025, Agronomy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Electrostatic Spray Charging  •  Agricultural Drones  •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2/16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1463040" cy="320040"/>
          </a:xfrm>
          <a:prstGeom prst="round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C4A"/>
                </a:solidFill>
                <a:latin typeface="Calibri"/>
              </a:defRPr>
            </a:pPr>
            <a:r>
              <a:t>What this proposal covers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057400" cy="3840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A2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C4A"/>
                </a:solidFill>
                <a:latin typeface="Calibri"/>
              </a:defRPr>
            </a:pPr>
            <a:r>
              <a:t>The problem — drift, waste &amp; stalled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Data + field calculations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120640"/>
            <a:ext cx="1600200" cy="54864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2011680"/>
            <a:ext cx="2057400" cy="3840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2860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A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01752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C4A"/>
                </a:solidFill>
                <a:latin typeface="Calibri"/>
              </a:defRPr>
            </a:pPr>
            <a:r>
              <a:t>Why current drones fail — DJI / XAG 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0233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Ceilings of hydraulic spray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5120640"/>
            <a:ext cx="1600200" cy="54864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2011680"/>
            <a:ext cx="2057400" cy="3840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2860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A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01752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C4A"/>
                </a:solidFill>
                <a:latin typeface="Calibri"/>
              </a:defRPr>
            </a:pPr>
            <a:r>
              <a:t>Proposed solution — electrostatic induction charging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0233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Physics + system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5120640"/>
            <a:ext cx="1600200" cy="54864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69480" y="2011680"/>
            <a:ext cx="2057400" cy="3840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22860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A2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01752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C4A"/>
                </a:solidFill>
                <a:latin typeface="Calibri"/>
              </a:defRPr>
            </a:pPr>
            <a:r>
              <a:t>What research proves — 6 peer-reviewed papers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0233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Numbers, not claims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5120640"/>
            <a:ext cx="1600200" cy="54864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09760" y="2011680"/>
            <a:ext cx="2057400" cy="3840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22860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A2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301752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C4A"/>
                </a:solidFill>
                <a:latin typeface="Calibri"/>
              </a:defRPr>
            </a:pPr>
            <a:r>
              <a:t>Economics &amp; roadmap — ROI, BOM, patents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40233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From prototype to moat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38360" y="5120640"/>
            <a:ext cx="1600200" cy="54864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Electrostatic Spray Charging  •  Agricultural Drones  •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3/16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1463040" cy="320040"/>
          </a:xfrm>
          <a:prstGeom prst="round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C4A"/>
                </a:solidFill>
                <a:latin typeface="Calibri"/>
              </a:defRPr>
            </a:pPr>
            <a:r>
              <a:t>Spray drones scaled. Spray quality did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200,000+ plant-protection drones operate in China alone — yet &lt;5% use any drift-reduction charging. (Zhang &amp; Huang 2021)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2560320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B2C4A"/>
                </a:solidFill>
                <a:latin typeface="Calibri"/>
              </a:defRPr>
            </a:pPr>
            <a:r>
              <a:t>$5.7B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Global agri-drone</a:t>
            </a:r>
            <a:br/>
            <a:r>
              <a:t>market (2025)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B4A2"/>
                </a:solidFill>
                <a:latin typeface="Calibri"/>
              </a:defRPr>
            </a:pPr>
            <a:r>
              <a:t>15% CAGR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377440"/>
            <a:ext cx="2560320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560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B2C4A"/>
                </a:solidFill>
                <a:latin typeface="Calibri"/>
              </a:defRPr>
            </a:pPr>
            <a:r>
              <a:t>$2.8B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Spray-drone</a:t>
            </a:r>
            <a:br/>
            <a:r>
              <a:t>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B4A2"/>
                </a:solidFill>
                <a:latin typeface="Calibri"/>
              </a:defRPr>
            </a:pPr>
            <a:r>
              <a:t>Core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2377440"/>
            <a:ext cx="2560320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2560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B2C4A"/>
                </a:solidFill>
                <a:latin typeface="Calibri"/>
              </a:defRPr>
            </a:pPr>
            <a:r>
              <a:t>~$50M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Electrostatic spray</a:t>
            </a:r>
            <a:br/>
            <a:r>
              <a:t>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B4A2"/>
                </a:solidFill>
                <a:latin typeface="Calibri"/>
              </a:defRPr>
            </a:pPr>
            <a:r>
              <a:t>→ $280M by 2030*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399" y="2377440"/>
            <a:ext cx="2560320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399" y="2560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B2C4A"/>
                </a:solidFill>
                <a:latin typeface="Calibri"/>
              </a:defRPr>
            </a:pPr>
            <a:r>
              <a:t>12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Typical Agras flight</a:t>
            </a:r>
            <a:br/>
            <a:r>
              <a:t>full tank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399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B4A2"/>
                </a:solidFill>
                <a:latin typeface="Calibri"/>
              </a:defRPr>
            </a:pPr>
            <a:r>
              <a:t>Drift = fewer flyable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Farmer reality (ArduPilot Discuss, DJI Agriculture Forum, r/agriculture):  “We lose $2,000/day in herbicide drift on windy days.”  •  “RTK loses fix under canopy — drone drifts 3 m between rows.”  •  “NDVI gives too many false positives.”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* 10% electrostatic penetration assumption. Sources: Hanif &amp; Han 2022 (82 cit.), Zhang &amp; Huang 2021 (27 cit.), industry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Electrostatic Spray Charging  •  Agricultural Drones  •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4/16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1463040" cy="320040"/>
          </a:xfrm>
          <a:prstGeom prst="round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PROBLEM  •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C4A"/>
                </a:solidFill>
                <a:latin typeface="Calibri"/>
              </a:defRPr>
            </a:pPr>
            <a:r>
              <a:t>Spray drift: most chemical misses the leaf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Conventional hydraulic nozzles at 2–3 m altitude in 10 km/h wind drift 15–50 m. Only ~35% lands on target.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94560"/>
          <a:ext cx="6583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463040"/>
                <a:gridCol w="1737360"/>
              </a:tblGrid>
              <a:tr h="6583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Wind (km/h)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Drift distance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On-target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Underside coverage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8 (flyable)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 – 12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45 – 55%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 – 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 – 15 (marginal)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 – 30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30 – 40%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~5%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15 (grounded)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30 – 50 m+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20 – 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Electrostatic @ 10–15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5 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72 – 80%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40 – 60%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79" y="2194560"/>
            <a:ext cx="4114800" cy="3291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377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⚠  CONSEQUENCES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3464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Calibri"/>
              </a:defRPr>
            </a:pPr>
            <a:r>
              <a:t>Neighbour-crop damage → lawsuits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Water contamination → regulation risk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Pests survive → re-spray = double cost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  <a:r>
              <a:t>Wind &gt; 8 km/h = grounded = lost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Sources: Ranabhat &amp; Price 2025 (AgriEngineering); Lan et al. 2024 (Ecotox. Env. Safety, 16 cit.); UGA wind-tunnel trials.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Electrostatic Spray Charging  •  Agricultural Drones  •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5/16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1463040" cy="320040"/>
          </a:xfrm>
          <a:prstGeom prst="round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PROBLEM  •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C4A"/>
                </a:solidFill>
                <a:latin typeface="Calibri"/>
              </a:defRPr>
            </a:pPr>
            <a:r>
              <a:t>The waste, calculated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Assumptions (conservative): 150 L/ha application  •  $0.22/L chemical  •  $33/ha chemical cost  •  40% drift loss conventional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651760"/>
                <a:gridCol w="2651760"/>
                <a:gridCol w="246888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 (per hectare)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Conventional (40% loss)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Electrostatic (12% loss)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Saving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Chemical lost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60 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18 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42 L saved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Money wasted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$13.20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$3.96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$9.24 / ha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Effective dose on leaf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35% (~52 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78% (~117 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2.2× more on target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Flyable wind limit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8 km/h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15 km/h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~2× more spray days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120640"/>
            <a:ext cx="11064240" cy="91440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E746E"/>
                </a:solidFill>
                <a:latin typeface="Calibri"/>
              </a:defRPr>
            </a:pPr>
            <a:r>
              <a:t>Scale:  1,000 ha × $9.24/ha  =  $9,240 saved per season  •  10,000 ha co-op  =  ~$92,000/season  •  Payback on $185/nozzle-set hardware in &lt; 25 ha.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Electrostatic Spray Charging  •  Agricultural Drones  •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6/16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1463040" cy="320040"/>
          </a:xfrm>
          <a:prstGeom prst="round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GAP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C4A"/>
                </a:solidFill>
                <a:latin typeface="Calibri"/>
              </a:defRPr>
            </a:pPr>
            <a:r>
              <a:t>Why incumbents have not solved drift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1645920"/>
                <a:gridCol w="429768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Spray tech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DJI Agras T40 / T50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Hydraulic, no charging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$15–25K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Grounds above ~8 km/h wind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XAG P100 / V40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Hydraulic, no charging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$12–20K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Same drift physics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Hylio AG-272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Hydraulic, no charging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~$18K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 underside 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John Deere See &amp; Spray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Vision spot-spray (ground)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$150K+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Not for drones; no charging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ESS ground rigs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Electrostatic (ground only)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$5–15K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Cannot fly — our opening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5 barriers that kept electrostatic off drones: HV weight (0.5–1.5 kg)  •  arcing near LiPo  •  charge-saturation limits  •  farmer awareness  •  legal uncertainty. All are now solvable — see next slides.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C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463040" cy="320040"/>
          </a:xfrm>
          <a:prstGeom prst="round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Induction-charged spray, built for drones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Charge each droplet to 6–12 kV as it leaves the nozzle. The leaf — grounded through soil — pulls droplets around and underneath. Same pump, same drone, radically better deposition.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A2"/>
                </a:solidFill>
                <a:latin typeface="Calibri"/>
              </a:defRPr>
            </a:pPr>
            <a:r>
              <a:t>1  ATOMIZE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632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Hydraulic nozzle</a:t>
            </a:r>
            <a:br/>
            <a:r>
              <a:t>0.2–0.5 MPa</a:t>
            </a:r>
            <a:br/>
            <a:r>
              <a:t>100–300 µm Dv50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A2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37744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A2"/>
                </a:solidFill>
                <a:latin typeface="Calibri"/>
              </a:defRPr>
            </a:pPr>
            <a:r>
              <a:t>2  CHARGE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30632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Induction ring</a:t>
            </a:r>
            <a:br/>
            <a:r>
              <a:t>6–12 kV, 10–50 µA</a:t>
            </a:r>
            <a:br/>
            <a:r>
              <a:t>0.5–2.0 mC/kg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79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A2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237744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A2"/>
                </a:solidFill>
                <a:latin typeface="Calibri"/>
              </a:defRPr>
            </a:pPr>
            <a:r>
              <a:t>3  ATTRACT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30632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Field lines to leaf</a:t>
            </a:r>
            <a:br/>
            <a:r>
              <a:t>Wraps underside</a:t>
            </a:r>
            <a:br/>
            <a:r>
              <a:t>Repulsion = no clump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A2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399" y="237744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A2"/>
                </a:solidFill>
                <a:latin typeface="Calibri"/>
              </a:defRPr>
            </a:pPr>
            <a:r>
              <a:t>4 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30632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STM32 + CAN bus</a:t>
            </a:r>
            <a:br/>
            <a:r>
              <a:t>PID per nozzle</a:t>
            </a:r>
            <a:br/>
            <a:r>
              <a:t>Wind-adaptive voltage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D6E5"/>
                </a:solidFill>
                <a:latin typeface="Calibri"/>
              </a:defRPr>
            </a:pPr>
            <a:r>
              <a:t>Why induction (not corona):  1–16 kV vs 30 kV  •  no liquid contact  •  fits existing nozzles  •  50–150 g per HV module.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Electrostatic Spray Charging  •  Agricultural Drones  •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Electrostatic Spray Charging  •  Agricultural Drones  •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8/16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1463040" cy="320040"/>
          </a:xfrm>
          <a:prstGeom prst="round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TECHNICAL  •  PHYSICS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C4A"/>
                </a:solidFill>
                <a:latin typeface="Calibri"/>
              </a:defRPr>
            </a:pPr>
            <a:r>
              <a:t>Operating window (validated)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67665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5603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Optimal range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 beyond range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Charging voltage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 – 12 kV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12 kV: saturation, no gain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Charge-to-mass ratio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0.5 – 2.0 mC/kg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Too high: droplet self-repulsion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Droplet size (Dv50)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 – 300 µm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100 µm: drift-prone even charged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Flow rate / nozzle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 – 1.0 L/min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Higher flow dilutes charge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Spray height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 – 3.0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Higher: coverage up, deposition 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80960" y="1737360"/>
            <a:ext cx="3931920" cy="3840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A2"/>
                </a:solidFill>
                <a:latin typeface="Calibri"/>
              </a:defRPr>
            </a:pPr>
            <a:r>
              <a:t>BREAKTHROUGH: TWO-STAGE CHARGING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3774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Li et al. (2025) show two-stage induction breaks the single-stage saturation ceiling: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2004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746E"/>
                </a:solidFill>
                <a:latin typeface="Calibri"/>
              </a:defRPr>
            </a:pPr>
            <a:r>
              <a:t>1.62 mC/kg @ 12 kV (+83.6%)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Dv50 −23.6% (finer, uniform)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CV 28.4% → 16.7%</a:t>
            </a:r>
          </a:p>
          <a:p>
            <a:pPr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p &lt; 0.01 — statistically robust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Electrostatic Spray Charging  •  Agricultural Drones  •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9/16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1463040" cy="320040"/>
          </a:xfrm>
          <a:prstGeom prst="round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TECHNICAL  • 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C4A"/>
                </a:solidFill>
                <a:latin typeface="Calibri"/>
              </a:defRPr>
            </a:pPr>
            <a:r>
              <a:t>Drone-ready architecture &amp; prototype BOM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69494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651760"/>
                <a:gridCol w="2286000"/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HV PSU ×4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 V → 0–16 kV, 10–50 µA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EMCO CA / flyback, 50–150 g ea.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Induction rings ×4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Ø10–20 mm, SS/brass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$2–5 each, 2–5 mm gap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Controller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STM32G4 + CAN ×4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PID voltage, current-limit, interlock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Nozzles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Hollow-cone / flat-fan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TeeJet / Lechler, 0.2–0.5 MPa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50 µA limit, 16 kV cap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Prop-kill on HV 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1737360"/>
            <a:ext cx="3749039" cy="393192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PROTOTYPE COST  •  4-NOZZLE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HV modules (4× $25)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4688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$100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Rings + nozzles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8803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$42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291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STM32G4 + CAN + PCB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3291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$53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703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Wiring / connectors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703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$20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4160520"/>
            <a:ext cx="3200400" cy="45720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343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4343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$185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Flight controller link: CAN / MAVLink spray messages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Electrostatic Spray Charging  •  Agricultural Drones  •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10/16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1463040" cy="320040"/>
          </a:xfrm>
          <a:prstGeom prst="round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EVIDENCE  • 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C4A"/>
                </a:solidFill>
                <a:latin typeface="Calibri"/>
              </a:defRPr>
            </a:pPr>
            <a:r>
              <a:t>Six papers that prove it — not hype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474720"/>
                <a:gridCol w="1280160"/>
                <a:gridCol w="5760720"/>
              </a:tblGrid>
              <a:tr h="60089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(journal, year)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Citations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One-line verdict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Zhang et al., IJABE 2017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First UAV system; 2–3× deposition gain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 et al., Agronomy 2025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Two-stage: 1.62 mC/kg, Dv50 −23.6%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Zhao &amp; Cooper 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Contact-charging; 1.5 mC/kg, orchard-proven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Zhang &amp; Huang 2021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China review: &lt;5% adoption = white space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Hanif &amp; Han 2022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“Electrostatic = most promising” + CAN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Hu &amp; Kaizu 2022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30–50% pesticide waste cut; $15–25/ha saved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Electrostatic Spray Charging  •  Agricultural Drones  •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11/16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1463040" cy="320040"/>
          </a:xfrm>
          <a:prstGeom prst="round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EVIDENCE  • 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C4A"/>
                </a:solidFill>
                <a:latin typeface="Calibri"/>
              </a:defRPr>
            </a:pPr>
            <a:r>
              <a:t>What the papers actually say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20440" cy="3931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B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A2"/>
                </a:solidFill>
                <a:latin typeface="Calibri"/>
              </a:defRPr>
            </a:pPr>
            <a:r>
              <a:t>ZHANG 2017  • 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“Six-rotor UAV electrostatic system achieves 2–3× deposition vs conventional at 1.5–3 m, optimal 6–8 kV.”  DOI: 10.25165/IJABE.V10I6.3460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737360"/>
            <a:ext cx="3520440" cy="3931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9202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2C4A"/>
                </a:solidFill>
                <a:latin typeface="Calibri"/>
              </a:defRPr>
            </a:pPr>
            <a:r>
              <a:t>LI 2025  •  BREAKTHROUGH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46888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“Two-stage induction reaches 1.62 mC/kg (+83.6%), Dv50 −23.6%, CV 28.4→16.7% (p&lt;0.01). Breaks saturation.”  DOI: 10.3390/agronomy15071641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737360"/>
            <a:ext cx="3520440" cy="3931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HANIF 2022 (82 CIT.)  •  VERDICT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“Independent nozzle control via CAN + electrostatic is the most promising path to 60–80% chemical savings.”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Plus: Ranabhat &amp; Price 2025 (optimal height 2–3 m)  •  Lan et al. 2024 (40% less bystander exposure)  •  Full bibliography in appendix.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Electrostatic Spray Charging  •  Agricultural Drones  •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12/16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1463040" cy="320040"/>
          </a:xfrm>
          <a:prstGeom prst="round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EVIDENCE  •  FIELD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C4A"/>
                </a:solidFill>
                <a:latin typeface="Calibri"/>
              </a:defRPr>
            </a:pPr>
            <a:r>
              <a:t>University of Georgia: validated in the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College of Agricultural &amp; Environmental Sciences, Tifton Campus  •  Cotton / peanut / soybean  •  5–15 km/h wind, 25–35 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103120" cy="182880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72–78%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DRIFT</a:t>
            </a:r>
            <a:br/>
            <a:r>
              <a:t>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vs 35% conventional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103120"/>
            <a:ext cx="2103120" cy="182880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926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DROPLETS</a:t>
            </a:r>
            <a:br/>
            <a:r>
              <a:t>ON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429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vs 35% conventional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103120"/>
            <a:ext cx="2103120" cy="182880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40–60%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926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REACH LEAF</a:t>
            </a:r>
            <a:br/>
            <a:r>
              <a:t>UNDERSIDE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429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vs 5–10% conventional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103120"/>
            <a:ext cx="3840480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A2"/>
                </a:solidFill>
                <a:latin typeface="Calibri"/>
              </a:defRPr>
            </a:pPr>
            <a:r>
              <a:t>VOLTAGE PRESCRIPTION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6974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Field crops: 6–8 kV optimal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Orchards: 10–12 kV optimal</a:t>
            </a:r>
          </a:p>
          <a:p>
            <a:pPr>
              <a:spcAft>
                <a:spcPts val="600"/>
              </a:spcAft>
              <a:defRPr sz="1100" b="0">
                <a:solidFill>
                  <a:srgbClr val="0E746E"/>
                </a:solidFill>
                <a:latin typeface="Calibri"/>
              </a:defRPr>
            </a:pPr>
            <a:r>
              <a:t>$8–12/acre herbicide saving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06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ON-TARGET DEPOSITION: CONVENTIONAL vs ELECTROSTATIC (UGA)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Conventional  35%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4572000"/>
            <a:ext cx="9052560" cy="3657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60320" y="4572000"/>
            <a:ext cx="3168396" cy="3657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Electrostatic  78%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5029200"/>
            <a:ext cx="9052560" cy="3657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60320" y="5029200"/>
            <a:ext cx="7060996" cy="3657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Team references: precision spray &amp; application technology groups (Rains, Porter). Wind-tunnel + field-plot methodology.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Electrostatic Spray Charging  •  Agricultural Drones  •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13/16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1463040" cy="320040"/>
          </a:xfrm>
          <a:prstGeom prst="round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C4A"/>
                </a:solidFill>
                <a:latin typeface="Calibri"/>
              </a:defRPr>
            </a:pPr>
            <a:r>
              <a:t>Head-to-head: conventional vs electrostatic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2743200"/>
                <a:gridCol w="3200400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Conventional hydraulic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Electrostatic induction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Chemical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35 – 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 – 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−60 to −75%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Leaf coverage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25 – 40%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60 – 80%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 – 3×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Chemical cost /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$25 – 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$10 – 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−50%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Application rate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150 – 200 L/ha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50 – 100 L/ha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−50%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Flyable wind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8 km/h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15 km/h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~2×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Electrostatic Spray Charging  •  Agricultural Drones  •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14/16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1463040" cy="320040"/>
          </a:xfrm>
          <a:prstGeom prst="round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ECONOMICS  • 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C4A"/>
                </a:solidFill>
                <a:latin typeface="Calibri"/>
              </a:defRPr>
            </a:pPr>
            <a:r>
              <a:t>Payback in weeks, not years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6949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2743200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Season saving</a:t>
                      </a:r>
                    </a:p>
                  </a:txBody>
                  <a:tcPr anchor="ctr">
                    <a:solidFill>
                      <a:srgbClr val="0B2C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Small farm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$924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Mid farm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1,000 ha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$9,240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Co-op / 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10,000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$92,400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1737360"/>
            <a:ext cx="3749039" cy="310896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PAYBACK MATH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774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Hardware: ~$185 / drone (4 nozzles)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Break-even: &lt; 25 ha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1,000 ha ROI: ~50× hardware</a:t>
            </a:r>
          </a:p>
          <a:p>
            <a:pPr>
              <a:spcAft>
                <a:spcPts val="6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Plus: fewer re-sprays, more fly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Sensitivity: even at half the drift benefit ($4.60/ha), a 1,000 ha farm saves ~$4,600/season — 25× the hardware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Basis: §5 calculation ($9.24/ha). Excludes labour/fuel savings from fewer passes and reduced liability.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Electrostatic Spray Charging  •  Agricultural Drones  •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15/16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1463040" cy="320040"/>
          </a:xfrm>
          <a:prstGeom prst="round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PLAN  • 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C4A"/>
                </a:solidFill>
                <a:latin typeface="Calibri"/>
              </a:defRPr>
            </a:pPr>
            <a:r>
              <a:t>From bench to patent-protected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5603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B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A2"/>
                </a:solidFill>
                <a:latin typeface="Calibri"/>
              </a:defRPr>
            </a:pPr>
            <a:r>
              <a:t>PHASE 1</a:t>
            </a:r>
            <a:br/>
            <a:r>
              <a:t>4–6 wks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Single-nozzle POC</a:t>
            </a:r>
            <a:br/>
            <a:r>
              <a:t>Faraday-cage charge test</a:t>
            </a:r>
            <a:br/>
            <a:r>
              <a:t>Dye-on-paper deposition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737360"/>
            <a:ext cx="25603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C4A"/>
                </a:solidFill>
                <a:latin typeface="Calibri"/>
              </a:defRPr>
            </a:pPr>
            <a:r>
              <a:t>PHASE 2</a:t>
            </a:r>
            <a:br/>
            <a:r>
              <a:t>6–8 wks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6060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4-nozzle CAN system</a:t>
            </a:r>
            <a:br/>
            <a:r>
              <a:t>Custom HV-isolated PCB</a:t>
            </a:r>
            <a:br/>
            <a:r>
              <a:t>ArduPilot MAVLink 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1737360"/>
            <a:ext cx="25603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PHASE 3</a:t>
            </a:r>
            <a:br/>
            <a:r>
              <a:t>4–6 wks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26060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Flight trials (hexacopter)</a:t>
            </a:r>
            <a:br/>
            <a:r>
              <a:t>IMU wind-adaptive voltage</a:t>
            </a:r>
            <a:br/>
            <a:r>
              <a:t>Cotton/soy field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399" y="1737360"/>
            <a:ext cx="25603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26060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Provisional patent FIRST</a:t>
            </a:r>
            <a:br/>
            <a:r>
              <a:t>Then publish + license</a:t>
            </a:r>
            <a:br/>
            <a:r>
              <a:t>FW open, HW proprietary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80560"/>
            <a:ext cx="1106424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PATENT WHITE SPACE — no filings on:  two-stage induction for UAV nozzles  •  CAN-bus multi-nozzle electrostatic drone control  •  wind/height-adaptive HV  •  LiDAR-canopy-distance HV control.  File provisional BEFORE any publication.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C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73152" cy="4114800"/>
          </a:xfrm>
          <a:prstGeom prst="rect">
            <a:avLst/>
          </a:prstGeom>
          <a:solidFill>
            <a:srgbClr val="00B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A2"/>
                </a:solidFill>
                <a:latin typeface="Calibri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Same drone. Same pump.</a:t>
            </a:r>
            <a:br/>
            <a:r>
              <a:t>Twice the chemistry on the leaf.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6E5"/>
                </a:solidFill>
                <a:latin typeface="Calibri"/>
              </a:defRPr>
            </a:pPr>
            <a:r>
              <a:t>We propose a $185, STM32 + CAN-controlled induction-charging retrofit that cuts drift 60–75% — backed by 6 peer-reviewed papers and UGA field data — with a wide-open patent lane.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023360"/>
            <a:ext cx="64008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2062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A2"/>
                </a:solidFill>
                <a:latin typeface="Calibri"/>
              </a:defRPr>
            </a:pPr>
            <a: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57200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C4A"/>
                </a:solidFill>
                <a:latin typeface="Calibri"/>
              </a:defRPr>
            </a:pPr>
            <a:r>
              <a:t>Approve Phase-1 POC (single-nozzle bench rig) → field data → provisional patent.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097280"/>
            <a:ext cx="3657600" cy="4389120"/>
          </a:xfrm>
          <a:prstGeom prst="roundRect">
            <a:avLst/>
          </a:prstGeom>
          <a:solidFill>
            <a:srgbClr val="13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APPENDIX: FULL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1. Zhang et al. 2017, IJABE — DOI:10.25165/IJABE.V10I6.3460 (59 cit.)</a:t>
            </a:r>
            <a:br/>
            <a:r>
              <a:t>2. Li et al. 2025, Agronomy — DOI:10.3390/agronomy15071641</a:t>
            </a:r>
            <a:br/>
            <a:r>
              <a:t>3. Zhao &amp; Cooper 2024 — contact-charging UAV (17 cit.)</a:t>
            </a:r>
            <a:br/>
            <a:r>
              <a:t>4. Zhang &amp; Huang 2021 — China review (27 cit.)</a:t>
            </a:r>
            <a:br/>
            <a:r>
              <a:t>5. Hanif &amp; Han 2022 — variable sprayer review (82 cit.)</a:t>
            </a:r>
            <a:br/>
            <a:r>
              <a:t>6. Hu &amp; Kaizu 2022 — pesticide-waste review (28 cit.)</a:t>
            </a:r>
            <a:br/>
            <a:r>
              <a:t>7. Ranabhat &amp; Price 2025 — heights &amp; nozzles</a:t>
            </a:r>
            <a:br/>
            <a:r>
              <a:t>8. Lan et al. 2024 — exposure risk (16 cit.)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Thank you.  •  Detailed research: RESEARCH_Electrostatic_Spray_Drone.md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