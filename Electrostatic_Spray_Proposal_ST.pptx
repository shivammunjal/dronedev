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3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3464" cy="5143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4_pi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75" y="228600"/>
            <a:ext cx="114300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200"/>
                </a:solidFill>
                <a:latin typeface="Arial"/>
              </a:defRPr>
            </a:pPr>
            <a:r>
              <a:t>AGRICULTURAL DRONES  •  PRECISION SPRAYING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Electrostatic Spray</a:t>
            </a:r>
            <a:br/>
            <a:r>
              <a:t>Charging for Drones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14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Cutting spray drift by 75% — a drone-ready retrofit.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91840"/>
            <a:ext cx="1600200" cy="914400"/>
          </a:xfrm>
          <a:prstGeom prst="round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3375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3234B"/>
                </a:solidFill>
                <a:latin typeface="Arial"/>
              </a:defRPr>
            </a:pPr>
            <a:r>
              <a:t>75%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3234B"/>
                </a:solidFill>
                <a:latin typeface="Arial"/>
              </a:defRPr>
            </a:pPr>
            <a:r>
              <a:t>drift reduction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3291840"/>
            <a:ext cx="1600200" cy="914400"/>
          </a:xfrm>
          <a:prstGeom prst="round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0008" y="33375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3234B"/>
                </a:solidFill>
                <a:latin typeface="Arial"/>
              </a:defRPr>
            </a:pPr>
            <a:r>
              <a:t>3×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38404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3234B"/>
                </a:solidFill>
                <a:latin typeface="Arial"/>
              </a:defRPr>
            </a:pPr>
            <a:r>
              <a:t>leaf deposition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3291840"/>
            <a:ext cx="1600200" cy="914400"/>
          </a:xfrm>
          <a:prstGeom prst="round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3087" y="33375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3234B"/>
                </a:solidFill>
                <a:latin typeface="Arial"/>
              </a:defRPr>
            </a:pPr>
            <a:r>
              <a:t>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7" y="38404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3234B"/>
                </a:solidFill>
                <a:latin typeface="Arial"/>
              </a:defRPr>
            </a:pPr>
            <a:r>
              <a:t>chemical saving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34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/>
              </a:defRPr>
            </a:pPr>
            <a:r>
              <a:t>Confidential proposal  •  September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005840"/>
            <a:ext cx="21945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6574"/>
                </a:solidFill>
                <a:latin typeface="Arial"/>
              </a:defRPr>
            </a:pPr>
            <a:r>
              <a:t>ONE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508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D92D20"/>
                </a:solidFill>
                <a:latin typeface="Arial"/>
              </a:defRPr>
            </a:pPr>
            <a:r>
              <a:t>$18,000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574"/>
                </a:solidFill>
                <a:latin typeface="Arial"/>
              </a:defRPr>
            </a:pPr>
            <a:r>
              <a:t>wasted per 1,000 ha / season on drifted chemical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743200"/>
            <a:ext cx="1737360" cy="256032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29400" y="2743200"/>
            <a:ext cx="608075" cy="256032"/>
          </a:xfrm>
          <a:prstGeom prst="round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0358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B6574"/>
                </a:solidFill>
                <a:latin typeface="Arial"/>
              </a:defRPr>
            </a:pPr>
            <a:r>
              <a:t>Conventional: 35% on target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3310128"/>
            <a:ext cx="1737360" cy="256032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29400" y="3310128"/>
            <a:ext cx="1355140" cy="256032"/>
          </a:xfrm>
          <a:prstGeom prst="roundRect">
            <a:avLst/>
          </a:prstGeom>
          <a:solidFill>
            <a:srgbClr val="1B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60273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B6574"/>
                </a:solidFill>
                <a:latin typeface="Arial"/>
              </a:defRPr>
            </a:pPr>
            <a:r>
              <a:t>Electrostatic: 78% on 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886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B6574"/>
                </a:solidFill>
                <a:latin typeface="Arial"/>
              </a:defRPr>
            </a:pPr>
            <a:r>
              <a:t>U. of Georgia field trials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" cy="5143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4_pi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75" y="36576"/>
            <a:ext cx="114300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92024"/>
            <a:ext cx="7040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The problem: most spray misses the leaf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55464"/>
            <a:ext cx="9144000" cy="283464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855464"/>
            <a:ext cx="73152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Wind 10–15 km/h  •  altitude 2–3 m  •  conventional hydraulic nozzle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55464"/>
            <a:ext cx="45720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371600"/>
            <a:ext cx="1188720" cy="32004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2646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✛  SPRAY DRONE</a:t>
            </a:r>
          </a:p>
        </p:txBody>
      </p:sp>
      <p:sp>
        <p:nvSpPr>
          <p:cNvPr id="11" name="Isosceles Triangle 10"/>
          <p:cNvSpPr/>
          <p:nvPr/>
        </p:nvSpPr>
        <p:spPr>
          <a:xfrm rot="10800000">
            <a:off x="1234440" y="1737360"/>
            <a:ext cx="731520" cy="1005840"/>
          </a:xfrm>
          <a:prstGeom prst="triangle">
            <a:avLst/>
          </a:prstGeom>
          <a:solidFill>
            <a:srgbClr val="D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1488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B6574"/>
                </a:solidFill>
                <a:latin typeface="Arial"/>
              </a:defRPr>
            </a:pPr>
            <a:r>
              <a:t>spray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86000" y="1911096"/>
            <a:ext cx="1554480" cy="201168"/>
          </a:xfrm>
          <a:prstGeom prst="right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16916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3234B"/>
                </a:solidFill>
                <a:latin typeface="Arial"/>
              </a:defRPr>
            </a:pPr>
            <a:r>
              <a:t>wind 10–15 km/h</a:t>
            </a:r>
          </a:p>
        </p:txBody>
      </p:sp>
      <p:sp>
        <p:nvSpPr>
          <p:cNvPr id="15" name="Oval 14"/>
          <p:cNvSpPr/>
          <p:nvPr/>
        </p:nvSpPr>
        <p:spPr>
          <a:xfrm>
            <a:off x="3931920" y="1828800"/>
            <a:ext cx="640080" cy="41148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80560" y="2011680"/>
            <a:ext cx="822960" cy="5029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20640" y="1828800"/>
            <a:ext cx="640080" cy="41148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2D20"/>
                </a:solidFill>
                <a:latin typeface="Arial"/>
              </a:defRPr>
            </a:pPr>
            <a:r>
              <a:t>drift cloud: 15–30 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566160"/>
            <a:ext cx="365760" cy="457200"/>
          </a:xfrm>
          <a:prstGeom prst="rect">
            <a:avLst/>
          </a:prstGeom>
          <a:solidFill>
            <a:srgbClr val="1B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25880" y="3566160"/>
            <a:ext cx="365760" cy="457200"/>
          </a:xfrm>
          <a:prstGeom prst="rect">
            <a:avLst/>
          </a:prstGeom>
          <a:solidFill>
            <a:srgbClr val="1B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0" y="3566160"/>
            <a:ext cx="365760" cy="457200"/>
          </a:xfrm>
          <a:prstGeom prst="rect">
            <a:avLst/>
          </a:prstGeom>
          <a:solidFill>
            <a:srgbClr val="1B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31720" y="3566160"/>
            <a:ext cx="365760" cy="457200"/>
          </a:xfrm>
          <a:prstGeom prst="rect">
            <a:avLst/>
          </a:prstGeom>
          <a:solidFill>
            <a:srgbClr val="1B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34640" y="3566160"/>
            <a:ext cx="365760" cy="457200"/>
          </a:xfrm>
          <a:prstGeom prst="rect">
            <a:avLst/>
          </a:prstGeom>
          <a:solidFill>
            <a:srgbClr val="1B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37560" y="3566160"/>
            <a:ext cx="365760" cy="457200"/>
          </a:xfrm>
          <a:prstGeom prst="rect">
            <a:avLst/>
          </a:prstGeom>
          <a:solidFill>
            <a:srgbClr val="1B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0690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6574"/>
                </a:solidFill>
                <a:latin typeface="Arial"/>
              </a:defRPr>
            </a:pPr>
            <a:r>
              <a:t>crop row — only ~35% lands here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371600"/>
            <a:ext cx="2194560" cy="1188720"/>
          </a:xfrm>
          <a:prstGeom prst="roundRect">
            <a:avLst/>
          </a:prstGeom>
          <a:solidFill>
            <a:srgbClr val="FFF8E1"/>
          </a:solidFill>
          <a:ln w="9525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508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92D20"/>
                </a:solidFill>
                <a:latin typeface="Arial"/>
              </a:defRPr>
            </a:pPr>
            <a:r>
              <a:t>40% lost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3234B"/>
                </a:solidFill>
                <a:latin typeface="Arial"/>
              </a:defRPr>
            </a:pPr>
            <a:r>
              <a:t>of every tank drifts away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743200"/>
            <a:ext cx="2194560" cy="1188720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880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3234B"/>
                </a:solidFill>
                <a:latin typeface="Arial"/>
              </a:defRPr>
            </a:pPr>
            <a:r>
              <a:t>&lt; 5% reach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3234B"/>
                </a:solidFill>
                <a:latin typeface="Arial"/>
              </a:defRPr>
            </a:pPr>
            <a:r>
              <a:t>the leaf underside where pests 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" cy="5143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4_pi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75" y="36576"/>
            <a:ext cx="114300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92024"/>
            <a:ext cx="7040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What drift costs — per hectare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55464"/>
            <a:ext cx="9144000" cy="283464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855464"/>
            <a:ext cx="73152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$0.22/L chemical  •  150 L/ha  •  40% drift (conventional)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55464"/>
            <a:ext cx="45720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54480"/>
            <a:ext cx="2286000" cy="1737360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37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6574"/>
                </a:solidFill>
                <a:latin typeface="Arial"/>
              </a:defRPr>
            </a:pPr>
            <a:r>
              <a:t>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3234B"/>
                </a:solidFill>
                <a:latin typeface="Arial"/>
              </a:defRPr>
            </a:pPr>
            <a:r>
              <a:t>$33.00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606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3234B"/>
                </a:solidFill>
                <a:latin typeface="Arial"/>
              </a:defRPr>
            </a:pPr>
            <a:r>
              <a:t>chemical per hectare per pass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26080" y="2308860"/>
            <a:ext cx="457200" cy="228600"/>
          </a:xfrm>
          <a:prstGeom prst="rightArrow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1554480"/>
            <a:ext cx="2286000" cy="173736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737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2D20"/>
                </a:solidFill>
                <a:latin typeface="Arial"/>
              </a:defRPr>
            </a:pPr>
            <a:r>
              <a:t>DRIFTS 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92D20"/>
                </a:solidFill>
                <a:latin typeface="Arial"/>
              </a:defRPr>
            </a:pPr>
            <a:r>
              <a:t>$13.20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06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3234B"/>
                </a:solidFill>
                <a:latin typeface="Arial"/>
              </a:defRPr>
            </a:pPr>
            <a:r>
              <a:t>60 litres lost to wind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52160" y="2308860"/>
            <a:ext cx="457200" cy="228600"/>
          </a:xfrm>
          <a:prstGeom prst="rightArrow">
            <a:avLst/>
          </a:prstGeom>
          <a:solidFill>
            <a:srgbClr val="1B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554480"/>
            <a:ext cx="2194560" cy="1737360"/>
          </a:xfrm>
          <a:prstGeom prst="roundRect">
            <a:avLst/>
          </a:prstGeom>
          <a:solidFill>
            <a:srgbClr val="E3F5E9"/>
          </a:solidFill>
          <a:ln w="9525">
            <a:solidFill>
              <a:srgbClr val="1B9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9E57"/>
                </a:solidFill>
                <a:latin typeface="Arial"/>
              </a:defRPr>
            </a:pPr>
            <a:r>
              <a:t>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B9E57"/>
                </a:solidFill>
                <a:latin typeface="Arial"/>
              </a:defRPr>
            </a:pPr>
            <a:r>
              <a:t>$19.80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3234B"/>
                </a:solidFill>
                <a:latin typeface="Arial"/>
              </a:defRPr>
            </a:pPr>
            <a:r>
              <a:t>only this part hits the leaf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566160"/>
            <a:ext cx="8028431" cy="91440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703320"/>
            <a:ext cx="7662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Electrostatic keeps $9.24/ha on the leaf  →  $9,240 per 1,000 ha per season  →  hardware pays back in &lt; 25 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" cy="5143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4_pi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75" y="36576"/>
            <a:ext cx="114300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92024"/>
            <a:ext cx="7040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Nobody selling spray drones charges the droplets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55464"/>
            <a:ext cx="9144000" cy="283464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855464"/>
            <a:ext cx="73152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DJI • XAG • Hylio • Deere • ESS — all hydraulic or ground-only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55464"/>
            <a:ext cx="45720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1874519" cy="1554480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6459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3234B"/>
                </a:solidFill>
                <a:latin typeface="Arial"/>
              </a:defRPr>
            </a:pPr>
            <a:r>
              <a:t>DJI Agras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116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B6574"/>
                </a:solidFill>
                <a:latin typeface="Arial"/>
              </a:defRPr>
            </a:pPr>
            <a:r>
              <a:t>$15–25K</a:t>
            </a:r>
          </a:p>
        </p:txBody>
      </p:sp>
      <p:sp>
        <p:nvSpPr>
          <p:cNvPr id="12" name="Oval 11"/>
          <p:cNvSpPr/>
          <p:nvPr/>
        </p:nvSpPr>
        <p:spPr>
          <a:xfrm>
            <a:off x="1133856" y="2377440"/>
            <a:ext cx="731520" cy="457200"/>
          </a:xfrm>
          <a:prstGeom prst="ellipse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245059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69748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6574"/>
                </a:solidFill>
                <a:latin typeface="Arial"/>
              </a:defRPr>
            </a:pPr>
            <a:r>
              <a:t>no charging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24328" y="1463040"/>
            <a:ext cx="1874519" cy="1554480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16459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3234B"/>
                </a:solidFill>
                <a:latin typeface="Arial"/>
              </a:defRPr>
            </a:pPr>
            <a:r>
              <a:t>XAG P100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20116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B6574"/>
                </a:solidFill>
                <a:latin typeface="Arial"/>
              </a:defRPr>
            </a:pPr>
            <a:r>
              <a:t>$12–20K</a:t>
            </a:r>
          </a:p>
        </p:txBody>
      </p:sp>
      <p:sp>
        <p:nvSpPr>
          <p:cNvPr id="18" name="Oval 17"/>
          <p:cNvSpPr/>
          <p:nvPr/>
        </p:nvSpPr>
        <p:spPr>
          <a:xfrm>
            <a:off x="3191256" y="2377440"/>
            <a:ext cx="731520" cy="457200"/>
          </a:xfrm>
          <a:prstGeom prst="ellipse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91256" y="245059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269748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6574"/>
                </a:solidFill>
                <a:latin typeface="Arial"/>
              </a:defRPr>
            </a:pPr>
            <a:r>
              <a:t>no charging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81728" y="1463040"/>
            <a:ext cx="1874519" cy="1554480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16459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3234B"/>
                </a:solidFill>
                <a:latin typeface="Arial"/>
              </a:defRPr>
            </a:pPr>
            <a:r>
              <a:t>John Deere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20116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B6574"/>
                </a:solidFill>
                <a:latin typeface="Arial"/>
              </a:defRPr>
            </a:pPr>
            <a:r>
              <a:t>$150K+</a:t>
            </a:r>
          </a:p>
        </p:txBody>
      </p:sp>
      <p:sp>
        <p:nvSpPr>
          <p:cNvPr id="24" name="Oval 23"/>
          <p:cNvSpPr/>
          <p:nvPr/>
        </p:nvSpPr>
        <p:spPr>
          <a:xfrm>
            <a:off x="5248656" y="2377440"/>
            <a:ext cx="731520" cy="457200"/>
          </a:xfrm>
          <a:prstGeom prst="ellipse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48656" y="245059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8888" y="269748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6574"/>
                </a:solidFill>
                <a:latin typeface="Arial"/>
              </a:defRPr>
            </a:pPr>
            <a:r>
              <a:t>ground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39128" y="1463040"/>
            <a:ext cx="1874519" cy="1554480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76288" y="16459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3234B"/>
                </a:solidFill>
                <a:latin typeface="Arial"/>
              </a:defRPr>
            </a:pPr>
            <a:r>
              <a:t>ESS rigs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20116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B6574"/>
                </a:solidFill>
                <a:latin typeface="Arial"/>
              </a:defRPr>
            </a:pPr>
            <a:r>
              <a:t>$5–15K</a:t>
            </a:r>
          </a:p>
        </p:txBody>
      </p:sp>
      <p:sp>
        <p:nvSpPr>
          <p:cNvPr id="30" name="Oval 29"/>
          <p:cNvSpPr/>
          <p:nvPr/>
        </p:nvSpPr>
        <p:spPr>
          <a:xfrm>
            <a:off x="7306056" y="2377440"/>
            <a:ext cx="731520" cy="457200"/>
          </a:xfrm>
          <a:prstGeom prst="ellipse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06056" y="245059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69748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6574"/>
                </a:solidFill>
                <a:latin typeface="Arial"/>
              </a:defRPr>
            </a:pPr>
            <a:r>
              <a:t>ground only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291840"/>
            <a:ext cx="8028431" cy="1280160"/>
          </a:xfrm>
          <a:prstGeom prst="roundRect">
            <a:avLst/>
          </a:prstGeom>
          <a:solidFill>
            <a:srgbClr val="FFF8E1"/>
          </a:solidFill>
          <a:ln w="9525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3429000"/>
            <a:ext cx="7662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3234B"/>
                </a:solidFill>
                <a:latin typeface="Arial"/>
              </a:defRPr>
            </a:pPr>
            <a:r>
              <a:t>5 barriers kept charging off drones — HV weight  •  arcing near LiPo  •  charge saturation  •  awareness  •  legal grey zone.   Our design clears all five (next slides).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" cy="5143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4_pi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75" y="36576"/>
            <a:ext cx="114300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92024"/>
            <a:ext cx="7040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Solution: charge each droplet as it leaves the nozzle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55464"/>
            <a:ext cx="9144000" cy="283464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855464"/>
            <a:ext cx="73152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Induction charging  •  6–12 kV  •  10–50 µA  •  fits existing nozzles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55464"/>
            <a:ext cx="45720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63040"/>
            <a:ext cx="1828800" cy="1463040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645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3234B"/>
                </a:solidFill>
                <a:latin typeface="Arial"/>
              </a:defRPr>
            </a:pPr>
            <a:r>
              <a:t>1  PUMP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574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3234B"/>
                </a:solidFill>
                <a:latin typeface="Arial"/>
              </a:defRPr>
            </a:pPr>
            <a:r>
              <a:t>0.2–0.5 MPa</a:t>
            </a:r>
            <a:br/>
            <a:r>
              <a:t>100–300 µm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395728" y="2103120"/>
            <a:ext cx="274320" cy="182880"/>
          </a:xfrm>
          <a:prstGeom prst="right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70048" y="1463040"/>
            <a:ext cx="1828800" cy="1463040"/>
          </a:xfrm>
          <a:prstGeom prst="roundRect">
            <a:avLst/>
          </a:prstGeom>
          <a:solidFill>
            <a:srgbClr val="FFD200"/>
          </a:solidFill>
          <a:ln w="9525">
            <a:solidFill>
              <a:srgbClr val="032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8" y="1645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3234B"/>
                </a:solidFill>
                <a:latin typeface="Arial"/>
              </a:defRPr>
            </a:pPr>
            <a:r>
              <a:t>2  CHARGE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0574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3234B"/>
                </a:solidFill>
                <a:latin typeface="Arial"/>
              </a:defRPr>
            </a:pPr>
            <a:r>
              <a:t>induction ring</a:t>
            </a:r>
            <a:br/>
            <a:r>
              <a:t>6–12 kV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498848" y="2103120"/>
            <a:ext cx="274320" cy="182880"/>
          </a:xfrm>
          <a:prstGeom prst="right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73168" y="1463040"/>
            <a:ext cx="1828800" cy="1463040"/>
          </a:xfrm>
          <a:prstGeom prst="roundRect">
            <a:avLst/>
          </a:prstGeom>
          <a:solidFill>
            <a:srgbClr val="D9EFF7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0328" y="1645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3234B"/>
                </a:solidFill>
                <a:latin typeface="Arial"/>
              </a:defRPr>
            </a:pPr>
            <a:r>
              <a:t>3  FLY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20574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3234B"/>
                </a:solidFill>
                <a:latin typeface="Arial"/>
              </a:defRPr>
            </a:pPr>
            <a:r>
              <a:t>0.5–2.0 mC/kg</a:t>
            </a:r>
            <a:br/>
            <a:r>
              <a:t>repel = no clump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601968" y="2103120"/>
            <a:ext cx="274320" cy="182880"/>
          </a:xfrm>
          <a:prstGeom prst="right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76288" y="1463040"/>
            <a:ext cx="1828800" cy="1463040"/>
          </a:xfrm>
          <a:prstGeom prst="roundRect">
            <a:avLst/>
          </a:prstGeom>
          <a:solidFill>
            <a:srgbClr val="E3F5E9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13448" y="1645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3234B"/>
                </a:solidFill>
                <a:latin typeface="Arial"/>
              </a:defRPr>
            </a:pPr>
            <a:r>
              <a:t>4  STICK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20574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3234B"/>
                </a:solidFill>
                <a:latin typeface="Arial"/>
              </a:defRPr>
            </a:pPr>
            <a:r>
              <a:t>wraps leaf</a:t>
            </a:r>
            <a:br/>
            <a:r>
              <a:t>+ underside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200400"/>
            <a:ext cx="8028431" cy="1371600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6574"/>
                </a:solidFill>
                <a:latin typeface="Arial"/>
              </a:defRPr>
            </a:pPr>
            <a:r>
              <a:t>WHY IT WORKS</a:t>
            </a:r>
          </a:p>
        </p:txBody>
      </p:sp>
      <p:sp>
        <p:nvSpPr>
          <p:cNvPr id="26" name="Oval 25"/>
          <p:cNvSpPr/>
          <p:nvPr/>
        </p:nvSpPr>
        <p:spPr>
          <a:xfrm>
            <a:off x="3840480" y="3611880"/>
            <a:ext cx="1463040" cy="640080"/>
          </a:xfrm>
          <a:prstGeom prst="ellipse">
            <a:avLst/>
          </a:prstGeom>
          <a:solidFill>
            <a:srgbClr val="1B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37673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leaf</a:t>
            </a:r>
          </a:p>
        </p:txBody>
      </p:sp>
      <p:sp>
        <p:nvSpPr>
          <p:cNvPr id="28" name="Right Arrow 27"/>
          <p:cNvSpPr/>
          <p:nvPr/>
        </p:nvSpPr>
        <p:spPr>
          <a:xfrm rot="2100000">
            <a:off x="3017520" y="3383280"/>
            <a:ext cx="457200" cy="146304"/>
          </a:xfrm>
          <a:prstGeom prst="right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 rot="19500000">
            <a:off x="5120640" y="3383280"/>
            <a:ext cx="457200" cy="146304"/>
          </a:xfrm>
          <a:prstGeom prst="right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 rot="19500000">
            <a:off x="3017520" y="4114800"/>
            <a:ext cx="457200" cy="146304"/>
          </a:xfrm>
          <a:prstGeom prst="right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 rot="2100000">
            <a:off x="5120640" y="4114800"/>
            <a:ext cx="457200" cy="146304"/>
          </a:xfrm>
          <a:prstGeom prst="right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0" y="3566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3234B"/>
                </a:solidFill>
                <a:latin typeface="Arial"/>
              </a:defRPr>
            </a:pPr>
            <a:r>
              <a:t>Leaf is grounded through soil →</a:t>
            </a:r>
            <a:br/>
            <a:r>
              <a:t>field lines pull droplets around</a:t>
            </a:r>
            <a:br/>
            <a:r>
              <a:t>and under. 40–60% reach the</a:t>
            </a:r>
            <a:br/>
            <a:r>
              <a:t>underside (vs ~5% before).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" cy="5143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4_pi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75" y="36576"/>
            <a:ext cx="114300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92024"/>
            <a:ext cx="7040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System architecture — 4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55464"/>
            <a:ext cx="9144000" cy="283464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855464"/>
            <a:ext cx="73152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CAN bus links every layer  •  STM32G4 at the centre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55464"/>
            <a:ext cx="45720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34440"/>
            <a:ext cx="6949440" cy="713232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930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3234B"/>
                </a:solidFill>
                <a:latin typeface="Arial"/>
              </a:defRPr>
            </a:pPr>
            <a:r>
              <a:t>LAYER 1 — FLIGHT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27048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3234B"/>
                </a:solidFill>
                <a:latin typeface="Arial"/>
              </a:defRPr>
            </a:pPr>
            <a:r>
              <a:t>ArduPilot + RTK  →  spray commands over CAN / MAVLink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931920" y="1947672"/>
            <a:ext cx="182880" cy="128016"/>
          </a:xfrm>
          <a:prstGeom prst="down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103120"/>
            <a:ext cx="6949440" cy="713232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5798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3234B"/>
                </a:solidFill>
                <a:latin typeface="Arial"/>
              </a:defRPr>
            </a:pPr>
            <a:r>
              <a:t>LAYER 2 —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395727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3234B"/>
                </a:solidFill>
                <a:latin typeface="Arial"/>
              </a:defRPr>
            </a:pPr>
            <a:r>
              <a:t>STM32G4  →  PID voltage per nozzle + current limit + prop-kill interlock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931920" y="2816352"/>
            <a:ext cx="182880" cy="128016"/>
          </a:xfrm>
          <a:prstGeom prst="down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971800"/>
            <a:ext cx="6949440" cy="713232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02666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3234B"/>
                </a:solidFill>
                <a:latin typeface="Arial"/>
              </a:defRPr>
            </a:pPr>
            <a:r>
              <a:t>LAYER 3 — SPRAY ×4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64408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3234B"/>
                </a:solidFill>
                <a:latin typeface="Arial"/>
              </a:defRPr>
            </a:pPr>
            <a:r>
              <a:t>HV PSU (12 V → 16 kV)  →  induction ring  →  hydraulic nozzle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931920" y="3685032"/>
            <a:ext cx="182880" cy="128016"/>
          </a:xfrm>
          <a:prstGeom prst="down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3840480"/>
            <a:ext cx="6949440" cy="713232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9534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3234B"/>
                </a:solidFill>
                <a:latin typeface="Arial"/>
              </a:defRPr>
            </a:pPr>
            <a:r>
              <a:t>LAYER 4 — POWER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133088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3234B"/>
                </a:solidFill>
                <a:latin typeface="Arial"/>
              </a:defRPr>
            </a:pPr>
            <a:r>
              <a:t>12 V rail  →  isolated HV  →  ADC feedback (1000:1) + 50 µA cap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1234440"/>
            <a:ext cx="914400" cy="329184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1371600"/>
            <a:ext cx="822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  <a:br/>
            <a:r>
              <a:t>A</a:t>
            </a:r>
            <a:br/>
            <a:r>
              <a:t>N</a:t>
            </a:r>
            <a:br/>
            <a:br/>
            <a:r>
              <a:t>b</a:t>
            </a:r>
            <a:br/>
            <a:r>
              <a:t>u</a:t>
            </a:r>
            <a:br/>
            <a:r>
              <a:t>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" cy="5143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4_pi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75" y="36576"/>
            <a:ext cx="114300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92024"/>
            <a:ext cx="7040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Control loop — per nozzle, every 5 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55464"/>
            <a:ext cx="9144000" cy="283464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855464"/>
            <a:ext cx="73152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PID on voltage  •  hard current cap  •  fail-safe by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55464"/>
            <a:ext cx="45720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234440"/>
            <a:ext cx="1828800" cy="45720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Target voltage via CAN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728216" y="1691640"/>
            <a:ext cx="201168" cy="137160"/>
          </a:xfrm>
          <a:prstGeom prst="down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828800"/>
            <a:ext cx="1828800" cy="457200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3234B"/>
                </a:solidFill>
                <a:latin typeface="Arial"/>
              </a:defRPr>
            </a:pPr>
            <a:r>
              <a:t>Measure HV (ADC)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728216" y="2286000"/>
            <a:ext cx="201168" cy="137160"/>
          </a:xfrm>
          <a:prstGeom prst="down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1051560" y="2423160"/>
            <a:ext cx="1554480" cy="685800"/>
          </a:xfrm>
          <a:prstGeom prst="diamond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6060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3234B"/>
                </a:solidFill>
                <a:latin typeface="Arial"/>
              </a:defRPr>
            </a:pPr>
            <a:r>
              <a:t>V = target?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606040" y="2670048"/>
            <a:ext cx="457200" cy="146304"/>
          </a:xfrm>
          <a:prstGeom prst="right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25146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92D20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0" y="2514600"/>
            <a:ext cx="1554480" cy="457200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2606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3234B"/>
                </a:solidFill>
                <a:latin typeface="Arial"/>
              </a:defRPr>
            </a:pPr>
            <a:r>
              <a:t>Adjust DAC (PID)</a:t>
            </a:r>
          </a:p>
        </p:txBody>
      </p:sp>
      <p:sp>
        <p:nvSpPr>
          <p:cNvPr id="21" name="Up Arrow 20"/>
          <p:cNvSpPr/>
          <p:nvPr/>
        </p:nvSpPr>
        <p:spPr>
          <a:xfrm>
            <a:off x="4526280" y="1920240"/>
            <a:ext cx="164592" cy="594360"/>
          </a:xfrm>
          <a:prstGeom prst="up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1728216" y="3108960"/>
            <a:ext cx="201168" cy="137160"/>
          </a:xfrm>
          <a:prstGeom prst="down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312724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B9E57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24" name="Diamond 23"/>
          <p:cNvSpPr/>
          <p:nvPr/>
        </p:nvSpPr>
        <p:spPr>
          <a:xfrm>
            <a:off x="1051560" y="3291840"/>
            <a:ext cx="1554480" cy="685800"/>
          </a:xfrm>
          <a:prstGeom prst="diamond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474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3234B"/>
                </a:solidFill>
                <a:latin typeface="Arial"/>
              </a:defRPr>
            </a:pPr>
            <a:r>
              <a:t>Current &lt; 50 µA?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728216" y="3977639"/>
            <a:ext cx="201168" cy="109728"/>
          </a:xfrm>
          <a:prstGeom prst="downArrow">
            <a:avLst/>
          </a:prstGeom>
          <a:solidFill>
            <a:srgbClr val="1B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3977639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B9E57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114800"/>
            <a:ext cx="1828800" cy="457200"/>
          </a:xfrm>
          <a:prstGeom prst="roundRect">
            <a:avLst/>
          </a:prstGeom>
          <a:solidFill>
            <a:srgbClr val="E3F5E9"/>
          </a:solidFill>
          <a:ln w="9525">
            <a:solidFill>
              <a:srgbClr val="1B9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9E57"/>
                </a:solidFill>
                <a:latin typeface="Arial"/>
              </a:defRPr>
            </a:pPr>
            <a:r>
              <a:t>✔  HOLD + SPRAY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606040" y="3538728"/>
            <a:ext cx="457200" cy="146304"/>
          </a:xfrm>
          <a:prstGeom prst="rightArrow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3832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92D20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0" y="3383280"/>
            <a:ext cx="1554480" cy="45720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3474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2D20"/>
                </a:solidFill>
                <a:latin typeface="Arial"/>
              </a:defRPr>
            </a:pPr>
            <a:r>
              <a:t>✕  FAULT → kill props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1234440"/>
            <a:ext cx="2286000" cy="3337560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1371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3234B"/>
                </a:solidFill>
                <a:latin typeface="Arial"/>
              </a:defRPr>
            </a:pPr>
            <a:r>
              <a:t>SAFETY 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3234B"/>
                </a:solidFill>
                <a:latin typeface="Arial"/>
              </a:defRPr>
            </a:pPr>
            <a:r>
              <a:t>•  50 µA hard cap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1945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3234B"/>
                </a:solidFill>
                <a:latin typeface="Arial"/>
              </a:defRPr>
            </a:pPr>
            <a:r>
              <a:t>•  16 kV ceiling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2606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3234B"/>
                </a:solidFill>
                <a:latin typeface="Arial"/>
              </a:defRPr>
            </a:pPr>
            <a:r>
              <a:t>•  HV fault = instant prop-kill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017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3234B"/>
                </a:solidFill>
                <a:latin typeface="Arial"/>
              </a:defRPr>
            </a:pPr>
            <a:r>
              <a:t>•  Default state = OFF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566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3234B"/>
                </a:solidFill>
                <a:latin typeface="Arial"/>
              </a:defRPr>
            </a:pPr>
            <a:r>
              <a:t>Wind-adaptive mode:</a:t>
            </a:r>
            <a:br/>
            <a:r>
              <a:t>IMU estimates crosswind →</a:t>
            </a:r>
            <a:br/>
            <a:r>
              <a:t>voltage auto-tunes 6–12 kV.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" cy="5143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4_pi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75" y="36576"/>
            <a:ext cx="114300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92024"/>
            <a:ext cx="7040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Research proof — 4 papers, one verdict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55464"/>
            <a:ext cx="9144000" cy="283464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855464"/>
            <a:ext cx="73152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Full DOIs in closing slide  •  verified via Semantic Scholar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55464"/>
            <a:ext cx="45720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71600"/>
            <a:ext cx="1874519" cy="2651760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544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3234B"/>
                </a:solidFill>
                <a:latin typeface="Arial"/>
              </a:defRPr>
            </a:pPr>
            <a:r>
              <a:t>Zhang 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202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B6574"/>
                </a:solidFill>
                <a:latin typeface="Arial"/>
              </a:defRPr>
            </a:pPr>
            <a:r>
              <a:t>59 cit.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" y="2331720"/>
            <a:ext cx="1417320" cy="201168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8" y="2331720"/>
            <a:ext cx="1417320" cy="201168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65176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3234B"/>
                </a:solidFill>
                <a:latin typeface="Arial"/>
              </a:defRPr>
            </a:pPr>
            <a:r>
              <a:t>First UAV system · 2–3× deposition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24328" y="1371600"/>
            <a:ext cx="1874519" cy="2651760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15544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3234B"/>
                </a:solidFill>
                <a:latin typeface="Arial"/>
              </a:defRPr>
            </a:pPr>
            <a:r>
              <a:t>Hanif 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19202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B6574"/>
                </a:solidFill>
                <a:latin typeface="Arial"/>
              </a:defRPr>
            </a:pPr>
            <a:r>
              <a:t>82 cit.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2928" y="2331720"/>
            <a:ext cx="1417320" cy="201168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52928" y="2331720"/>
            <a:ext cx="1417320" cy="201168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1488" y="265176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3234B"/>
                </a:solidFill>
                <a:latin typeface="Arial"/>
              </a:defRPr>
            </a:pPr>
            <a:r>
              <a:t>“Most promising” + CAN 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44368" y="3429000"/>
            <a:ext cx="1234440" cy="292608"/>
          </a:xfrm>
          <a:prstGeom prst="round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44368" y="344728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3234B"/>
                </a:solidFill>
                <a:latin typeface="Arial"/>
              </a:defRPr>
            </a:pPr>
            <a:r>
              <a:t>★ TOP VERDICT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1371600"/>
            <a:ext cx="1874519" cy="2651760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888" y="15544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3234B"/>
                </a:solidFill>
                <a:latin typeface="Arial"/>
              </a:defRPr>
            </a:pPr>
            <a:r>
              <a:t>Li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8888" y="19202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B6574"/>
                </a:solidFill>
                <a:latin typeface="Arial"/>
              </a:defRPr>
            </a:pPr>
            <a:r>
              <a:t>11 cit.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10328" y="2331720"/>
            <a:ext cx="1417320" cy="201168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910328" y="2331720"/>
            <a:ext cx="496062" cy="201168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8888" y="265176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3234B"/>
                </a:solidFill>
                <a:latin typeface="Arial"/>
              </a:defRPr>
            </a:pPr>
            <a:r>
              <a:t>Two-stage · 1.62 mC/kg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39128" y="1371600"/>
            <a:ext cx="1874519" cy="2651760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6288" y="155448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3234B"/>
                </a:solidFill>
                <a:latin typeface="Arial"/>
              </a:defRPr>
            </a:pPr>
            <a:r>
              <a:t>Zhao 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9202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B6574"/>
                </a:solidFill>
                <a:latin typeface="Arial"/>
              </a:defRPr>
            </a:pPr>
            <a:r>
              <a:t>17 cit.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67728" y="2331720"/>
            <a:ext cx="1417320" cy="201168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67728" y="2331720"/>
            <a:ext cx="637794" cy="201168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76288" y="265176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3234B"/>
                </a:solidFill>
                <a:latin typeface="Arial"/>
              </a:defRPr>
            </a:pPr>
            <a:r>
              <a:t>Orchard-proven contact charging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160520"/>
            <a:ext cx="80284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6574"/>
                </a:solidFill>
                <a:latin typeface="Arial"/>
              </a:defRPr>
            </a:pPr>
            <a:r>
              <a:t>+ Zhang &amp; Huang 2021 (27 cit.): China has 200,000+ spray drones, &lt;5% electrostatic  •  Hu &amp; Kaizu 2022 (28 cit.): 30–50% waste cut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" cy="5143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4_pi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75" y="36576"/>
            <a:ext cx="114300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92024"/>
            <a:ext cx="7040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Field proof — University of Georgia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55464"/>
            <a:ext cx="9144000" cy="283464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855464"/>
            <a:ext cx="73152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Cotton / peanut / soybean  •  5–15 km/h wind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55464"/>
            <a:ext cx="45720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6574"/>
                </a:solidFill>
                <a:latin typeface="Arial"/>
              </a:defRPr>
            </a:pPr>
            <a:r>
              <a:t>ON-TARGET DEPOSITION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234B"/>
                </a:solidFill>
                <a:latin typeface="Arial"/>
              </a:defRPr>
            </a:pPr>
            <a:r>
              <a:t>Conventional  35%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600200"/>
            <a:ext cx="3108960" cy="3657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51760" y="1600200"/>
            <a:ext cx="1088136" cy="365760"/>
          </a:xfrm>
          <a:prstGeom prst="round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03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234B"/>
                </a:solidFill>
                <a:latin typeface="Arial"/>
              </a:defRPr>
            </a:pPr>
            <a:r>
              <a:t>Electrostatic  78%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103120"/>
            <a:ext cx="3108960" cy="3657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51760" y="2103120"/>
            <a:ext cx="2424988" cy="365760"/>
          </a:xfrm>
          <a:prstGeom prst="roundRect">
            <a:avLst/>
          </a:prstGeom>
          <a:solidFill>
            <a:srgbClr val="1B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6574"/>
                </a:solidFill>
                <a:latin typeface="Arial"/>
              </a:defRPr>
            </a:pPr>
            <a:r>
              <a:t>LEAF-UNDERSIDE 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234B"/>
                </a:solidFill>
                <a:latin typeface="Arial"/>
              </a:defRPr>
            </a:pPr>
            <a:r>
              <a:t>Conventional  ~5%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2926080"/>
            <a:ext cx="3108960" cy="3657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51760" y="2926080"/>
            <a:ext cx="248716" cy="365760"/>
          </a:xfrm>
          <a:prstGeom prst="roundRect">
            <a:avLst/>
          </a:prstGeom>
          <a:solidFill>
            <a:srgbClr val="D9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234B"/>
                </a:solidFill>
                <a:latin typeface="Arial"/>
              </a:defRPr>
            </a:pPr>
            <a:r>
              <a:t>Electrostatic  50%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1760" y="3429000"/>
            <a:ext cx="3108960" cy="365760"/>
          </a:xfrm>
          <a:prstGeom prst="round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51760" y="3429000"/>
            <a:ext cx="1709928" cy="365760"/>
          </a:xfrm>
          <a:prstGeom prst="roundRect">
            <a:avLst/>
          </a:prstGeom>
          <a:solidFill>
            <a:srgbClr val="1B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1371600"/>
            <a:ext cx="685800" cy="237744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55448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200"/>
                </a:solidFill>
                <a:latin typeface="Arial"/>
              </a:defRPr>
            </a:pPr>
            <a:r>
              <a:t>75%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0312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drift cut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0608" y="1371600"/>
            <a:ext cx="685800" cy="237744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155448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200"/>
                </a:solidFill>
                <a:latin typeface="Arial"/>
              </a:defRPr>
            </a:pPr>
            <a:r>
              <a:t>$10/ac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210312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saved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00416" y="1371600"/>
            <a:ext cx="685800" cy="237744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0416" y="155448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200"/>
                </a:solidFill>
                <a:latin typeface="Arial"/>
              </a:defRPr>
            </a:pPr>
            <a:r>
              <a:t>8 kV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0416" y="210312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field sweet-spot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86200"/>
            <a:ext cx="2212848" cy="685800"/>
          </a:xfrm>
          <a:prstGeom prst="roundRect">
            <a:avLst/>
          </a:prstGeom>
          <a:solidFill>
            <a:srgbClr val="FFF8E1"/>
          </a:solidFill>
          <a:ln w="9525">
            <a:solidFill>
              <a:srgbClr val="FF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977639"/>
            <a:ext cx="1938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3234B"/>
                </a:solidFill>
                <a:latin typeface="Arial"/>
              </a:defRPr>
            </a:pPr>
            <a:r>
              <a:t>Orchards: 10–12 kV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" cy="5143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4_pi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75" y="36576"/>
            <a:ext cx="114300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92024"/>
            <a:ext cx="7040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Roadmap → patent →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55464"/>
            <a:ext cx="9144000" cy="283464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855464"/>
            <a:ext cx="73152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File provisional BEFORE any publication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55464"/>
            <a:ext cx="457200" cy="2834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80160"/>
            <a:ext cx="1554480" cy="1188720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3234B"/>
                </a:solidFill>
                <a:latin typeface="Arial"/>
              </a:defRPr>
            </a:pPr>
            <a:r>
              <a:t>P1 · 4–6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3234B"/>
                </a:solidFill>
                <a:latin typeface="Arial"/>
              </a:defRPr>
            </a:pPr>
            <a:r>
              <a:t>Bench rig</a:t>
            </a:r>
            <a:br/>
            <a:r>
              <a:t>1 nozzle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21408" y="1792223"/>
            <a:ext cx="274320" cy="164592"/>
          </a:xfrm>
          <a:prstGeom prst="right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95728" y="1280160"/>
            <a:ext cx="1554480" cy="1188720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7168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3234B"/>
                </a:solidFill>
                <a:latin typeface="Arial"/>
              </a:defRPr>
            </a:pPr>
            <a:r>
              <a:t>P2 · 6–8 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1783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3234B"/>
                </a:solidFill>
                <a:latin typeface="Arial"/>
              </a:defRPr>
            </a:pPr>
            <a:r>
              <a:t>4-nozzle</a:t>
            </a:r>
            <a:br/>
            <a:r>
              <a:t>CAN system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50208" y="1792223"/>
            <a:ext cx="274320" cy="164592"/>
          </a:xfrm>
          <a:prstGeom prst="right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24528" y="1280160"/>
            <a:ext cx="1554480" cy="1188720"/>
          </a:xfrm>
          <a:prstGeom prst="roundRect">
            <a:avLst/>
          </a:prstGeom>
          <a:solidFill>
            <a:srgbClr val="F4F4F5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3234B"/>
                </a:solidFill>
                <a:latin typeface="Arial"/>
              </a:defRPr>
            </a:pPr>
            <a:r>
              <a:t>P3 · 4–6 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1783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3234B"/>
                </a:solidFill>
                <a:latin typeface="Arial"/>
              </a:defRPr>
            </a:pPr>
            <a:r>
              <a:t>Flight trials</a:t>
            </a:r>
            <a:br/>
            <a:r>
              <a:t>field data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779008" y="1792223"/>
            <a:ext cx="274320" cy="164592"/>
          </a:xfrm>
          <a:prstGeom prst="rightArrow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53328" y="1280160"/>
            <a:ext cx="1554480" cy="1188720"/>
          </a:xfrm>
          <a:prstGeom prst="roundRect">
            <a:avLst/>
          </a:prstGeom>
          <a:solidFill>
            <a:srgbClr val="FFD200"/>
          </a:solidFill>
          <a:ln w="9525">
            <a:solidFill>
              <a:srgbClr val="032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4768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3234B"/>
                </a:solidFill>
                <a:latin typeface="Arial"/>
              </a:defRPr>
            </a:pPr>
            <a:r>
              <a:t>P4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1783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3234B"/>
                </a:solidFill>
                <a:latin typeface="Arial"/>
              </a:defRPr>
            </a:pPr>
            <a:r>
              <a:t>Patent →</a:t>
            </a:r>
            <a:br/>
            <a:r>
              <a:t>license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2697480"/>
            <a:ext cx="8028431" cy="91440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2834640"/>
            <a:ext cx="7662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ASK: approve the single-nozzle bench rig  →  field data  →  provisional patent.   Hardware ≈ $185/drone · payback &lt; 25 ha.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749039"/>
            <a:ext cx="802843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B6574"/>
                </a:solidFill>
                <a:latin typeface="Arial"/>
              </a:defRPr>
            </a:pPr>
            <a:r>
              <a:t>Refs: Zhang 2017 DOI:10.25165/IJABE.V10I6.3460  •  Li 2025 DOI:10.3390/agronomy15071641  •  Hanif 2022 (82 cit.)  •  Hu &amp; Kaizu 2022 (28 cit.)  • 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